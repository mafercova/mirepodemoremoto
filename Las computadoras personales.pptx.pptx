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0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58" r:id="rId20"/>
  </p:sldIdLst>
  <p:sldSz cx="10083800" cy="7556500"/>
  <p:notesSz cx="10083800" cy="75565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7" d="100"/>
          <a:sy n="67" d="100"/>
        </p:scale>
        <p:origin x="1260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711825" y="0"/>
            <a:ext cx="4370388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636675-D04D-4389-B44C-0DC44AABA320}" type="datetimeFigureOut">
              <a:rPr lang="es-MX" smtClean="0"/>
              <a:t>22/07/2020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340100" y="944563"/>
            <a:ext cx="3403600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08063" y="3636963"/>
            <a:ext cx="8067675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711825" y="7177088"/>
            <a:ext cx="4370388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F3A418-6CF0-478B-B777-D3712B56243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61923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r>
              <a:rPr lang="es-ES" smtClean="0"/>
              <a:t>Haga clic para editar el estilo de subtítulo del patrón</a:t>
            </a: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03A8AC-F09D-4CCA-BB0C-A53EA5C3DB27}" type="datetime1">
              <a:rPr lang="es-MX" smtClean="0"/>
              <a:t>22/07/2020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F0000"/>
                </a:solidFill>
                <a:latin typeface="Arial"/>
                <a:cs typeface="Arial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BBC82-53CA-46EB-8BC8-02E4DC4F4BDB}" type="slidenum">
              <a:rPr lang="es-MX" smtClean="0"/>
              <a:pPr/>
              <a:t>‹Nº›</a:t>
            </a:fld>
            <a:endParaRPr lang="es-MX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F0000"/>
                </a:solidFill>
                <a:latin typeface="Arial"/>
                <a:cs typeface="Arial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4190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93157" y="1737995"/>
            <a:ext cx="4386453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1247139" y="7222187"/>
            <a:ext cx="157924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lang="es-MX" smtClean="0"/>
              <a:t>Àrea Acadèmica de Ingenierìas</a:t>
            </a:r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15D509-5970-4C41-A511-0633E6CF05E9}" type="datetime1">
              <a:rPr lang="es-MX" smtClean="0"/>
              <a:t>22/07/2020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rgbClr val="7F0000"/>
                </a:solidFill>
                <a:latin typeface="Arial"/>
                <a:cs typeface="Arial"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>
          <a:xfrm>
            <a:off x="1247139" y="7222187"/>
            <a:ext cx="157924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lang="es-MX" smtClean="0"/>
              <a:t>Àrea Acadèmica de Ingenierìas</a:t>
            </a:r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B5BA79-9451-44C4-81FC-0124AF7BE7B7}" type="datetime1">
              <a:rPr lang="es-MX" smtClean="0"/>
              <a:t>22/07/2020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>
          <a:xfrm>
            <a:off x="1247139" y="7222187"/>
            <a:ext cx="1579245" cy="177800"/>
          </a:xfrm>
          <a:prstGeom prst="rect">
            <a:avLst/>
          </a:prstGeom>
        </p:spPr>
        <p:txBody>
          <a:bodyPr lIns="0" tIns="0" rIns="0" bIns="0"/>
          <a:lstStyle>
            <a:lvl1pPr>
              <a:defRPr sz="12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310"/>
              </a:lnSpc>
            </a:pPr>
            <a:r>
              <a:rPr lang="es-MX" smtClean="0"/>
              <a:t>Àrea Acadèmica de Ingenierìas</a:t>
            </a:r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4BC75-87B1-4FF9-AD69-D48640BDC0C7}" type="datetime1">
              <a:rPr lang="es-MX" smtClean="0"/>
              <a:t>22/07/2020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190" y="7027545"/>
            <a:ext cx="2319274" cy="276999"/>
          </a:xfrm>
        </p:spPr>
        <p:txBody>
          <a:bodyPr/>
          <a:lstStyle/>
          <a:p>
            <a:fld id="{C10A75CC-B0EB-4923-840C-81693F0CE318}" type="datetime1">
              <a:rPr lang="es-MX" smtClean="0"/>
              <a:t>22/07/2020</a:t>
            </a:fld>
            <a:endParaRPr lang="es-EC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C" smtClean="0"/>
              <a:t>Àrea Acadèmica de Ingenierìas</a:t>
            </a:r>
            <a:endParaRPr lang="es-EC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60336" y="7027545"/>
            <a:ext cx="2319274" cy="276999"/>
          </a:xfrm>
        </p:spPr>
        <p:txBody>
          <a:bodyPr/>
          <a:lstStyle/>
          <a:p>
            <a:fld id="{CA6F92E4-8F61-40AD-A3D2-C1C62A41DBCE}" type="slidenum">
              <a:rPr lang="es-EC" smtClean="0"/>
              <a:t>‹Nº›</a:t>
            </a:fld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713052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7730" y="547370"/>
            <a:ext cx="8308339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7F0000"/>
                </a:solidFill>
                <a:latin typeface="Arial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19530" y="1562089"/>
            <a:ext cx="7787640" cy="2820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007F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4190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8B602A-E789-4C8C-91DC-845A0E4B966E}" type="datetime1">
              <a:rPr lang="es-MX" smtClean="0"/>
              <a:t>22/07/2020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60336" y="7027545"/>
            <a:ext cx="2319274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633" y="7005539"/>
            <a:ext cx="1180535" cy="550961"/>
          </a:xfrm>
          <a:prstGeom prst="rect">
            <a:avLst/>
          </a:prstGeom>
        </p:spPr>
      </p:pic>
      <p:sp>
        <p:nvSpPr>
          <p:cNvPr id="13" name="Rectángulo 12"/>
          <p:cNvSpPr/>
          <p:nvPr/>
        </p:nvSpPr>
        <p:spPr>
          <a:xfrm>
            <a:off x="0" y="0"/>
            <a:ext cx="7632700" cy="33528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4" name="Rectángulo 13"/>
          <p:cNvSpPr/>
          <p:nvPr/>
        </p:nvSpPr>
        <p:spPr>
          <a:xfrm>
            <a:off x="152400" y="394970"/>
            <a:ext cx="7632700" cy="10668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7000"/>
                </a:schemeClr>
              </a:gs>
              <a:gs pos="48000">
                <a:schemeClr val="accent3">
                  <a:lumMod val="97000"/>
                  <a:lumOff val="3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/>
  <p:txStyles>
    <p:titleStyle>
      <a:lvl1pPr eaLnBrk="1" hangingPunct="1">
        <a:defRPr sz="2800"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vivantic.org/mejores-suite-office-alternativas/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mailto:sergior@ucc.mx" TargetMode="External"/><Relationship Id="rId3" Type="http://schemas.openxmlformats.org/officeDocument/2006/relationships/hyperlink" Target="https://www.facebook.com/ucc.telecomunicaciones" TargetMode="External"/><Relationship Id="rId7" Type="http://schemas.openxmlformats.org/officeDocument/2006/relationships/image" Target="../media/image22.png"/><Relationship Id="rId2" Type="http://schemas.openxmlformats.org/officeDocument/2006/relationships/hyperlink" Target="https://www.facebook.com/ucc.industrial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jpg"/><Relationship Id="rId5" Type="http://schemas.openxmlformats.org/officeDocument/2006/relationships/hyperlink" Target="https://www.facebook.com/ucc.petrolera" TargetMode="External"/><Relationship Id="rId4" Type="http://schemas.openxmlformats.org/officeDocument/2006/relationships/hyperlink" Target="https://www.facebook.com/ucc.sistema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492443"/>
          </a:xfrm>
        </p:spPr>
        <p:txBody>
          <a:bodyPr/>
          <a:lstStyle/>
          <a:p>
            <a:pPr algn="ctr"/>
            <a:r>
              <a:rPr lang="es-MX" dirty="0"/>
              <a:t>Las computadoras personales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830997"/>
          </a:xfrm>
        </p:spPr>
        <p:txBody>
          <a:bodyPr/>
          <a:lstStyle/>
          <a:p>
            <a:pPr algn="ctr"/>
            <a:r>
              <a:rPr lang="es-MX" dirty="0"/>
              <a:t>Identificar y describir un sistema de computación incluyendo los nombres, características y propósitos de los diferentes tipos de hardware.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0027B290-3FDD-446C-A233-A60DF74C6280}" type="datetime1">
              <a:rPr lang="es-MX" smtClean="0"/>
              <a:t>22/07/2020</a:t>
            </a:fld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05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	Agenda</a:t>
            </a:r>
            <a:endParaRPr lang="es-MX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idx="1"/>
          </p:nvPr>
        </p:nvSpPr>
        <p:spPr>
          <a:xfrm>
            <a:off x="1319530" y="1562089"/>
            <a:ext cx="7787640" cy="2908489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Armado de una computadora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Componentes </a:t>
            </a:r>
            <a:r>
              <a:rPr lang="es-MX" dirty="0"/>
              <a:t>periféricos de una </a:t>
            </a:r>
            <a:r>
              <a:rPr lang="es-MX" dirty="0" err="1" smtClean="0"/>
              <a:t>pC</a:t>
            </a:r>
            <a:endParaRPr lang="es-MX" dirty="0" smtClean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Software </a:t>
            </a:r>
            <a:r>
              <a:rPr lang="es-MX" dirty="0"/>
              <a:t>básico de una </a:t>
            </a:r>
            <a:r>
              <a:rPr lang="es-MX" dirty="0" smtClean="0"/>
              <a:t>PC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Puertos</a:t>
            </a:r>
            <a:r>
              <a:rPr lang="es-MX" dirty="0"/>
              <a:t>, conectores y </a:t>
            </a:r>
            <a:r>
              <a:rPr lang="es-MX" dirty="0" smtClean="0"/>
              <a:t>cables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Ensamblaje </a:t>
            </a:r>
            <a:r>
              <a:rPr lang="es-MX" dirty="0"/>
              <a:t>y mantenimiento de </a:t>
            </a:r>
            <a:r>
              <a:rPr lang="es-MX" dirty="0" smtClean="0"/>
              <a:t>computadoras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Instalación </a:t>
            </a:r>
            <a:r>
              <a:rPr lang="es-MX" dirty="0"/>
              <a:t>y configuración básica de </a:t>
            </a:r>
            <a:r>
              <a:rPr lang="es-MX" dirty="0" smtClean="0"/>
              <a:t>software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s-MX" dirty="0" smtClean="0"/>
              <a:t>Equipos </a:t>
            </a:r>
            <a:r>
              <a:rPr lang="es-MX" dirty="0"/>
              <a:t>de cómputo portátil</a:t>
            </a:r>
          </a:p>
        </p:txBody>
      </p:sp>
      <p:sp>
        <p:nvSpPr>
          <p:cNvPr id="6" name="Marcador de fecha 5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4FF9116B-5242-46F2-9C8F-249C88B2735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66098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Armado de una computadora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319530" y="1562089"/>
            <a:ext cx="7787640" cy="285719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MX" dirty="0"/>
              <a:t>¿Qué desea hacer con la computadora? </a:t>
            </a:r>
            <a:endParaRPr lang="es-MX" dirty="0" smtClean="0"/>
          </a:p>
          <a:p>
            <a:pPr>
              <a:lnSpc>
                <a:spcPct val="150000"/>
              </a:lnSpc>
            </a:pPr>
            <a:r>
              <a:rPr lang="es-MX" dirty="0" smtClean="0"/>
              <a:t>¿</a:t>
            </a:r>
            <a:r>
              <a:rPr lang="es-MX" dirty="0"/>
              <a:t>Va a adquirir o crear un nuevo sistema doméstico para la familia? </a:t>
            </a:r>
            <a:endParaRPr lang="es-MX" dirty="0" smtClean="0"/>
          </a:p>
          <a:p>
            <a:pPr>
              <a:lnSpc>
                <a:spcPct val="150000"/>
              </a:lnSpc>
            </a:pPr>
            <a:r>
              <a:rPr lang="es-MX" dirty="0" smtClean="0"/>
              <a:t>¿</a:t>
            </a:r>
            <a:r>
              <a:rPr lang="es-MX" dirty="0"/>
              <a:t>Va a crear una estación de trabajo para un cliente en una empresa de arquitectura que necesita ejecutar aplicaciones con uso intensivo de gráficos como AutoCAD? </a:t>
            </a:r>
            <a:endParaRPr lang="es-MX" dirty="0" smtClean="0"/>
          </a:p>
          <a:p>
            <a:pPr>
              <a:lnSpc>
                <a:spcPct val="150000"/>
              </a:lnSpc>
            </a:pPr>
            <a:r>
              <a:rPr lang="es-MX" dirty="0" smtClean="0"/>
              <a:t>¿</a:t>
            </a:r>
            <a:r>
              <a:rPr lang="es-MX" dirty="0"/>
              <a:t>O va a armar una máquina para juegos que le dé una ventaja sobre la competencia?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3</a:t>
            </a:fld>
            <a:endParaRPr lang="es-MX" dirty="0"/>
          </a:p>
        </p:txBody>
      </p:sp>
      <p:sp>
        <p:nvSpPr>
          <p:cNvPr id="6" name="Rectángulo 5"/>
          <p:cNvSpPr/>
          <p:nvPr/>
        </p:nvSpPr>
        <p:spPr>
          <a:xfrm>
            <a:off x="4154169" y="4609676"/>
            <a:ext cx="50419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MX" dirty="0">
                <a:solidFill>
                  <a:srgbClr val="333333"/>
                </a:solidFill>
                <a:latin typeface="CiscoSansTTLight"/>
              </a:rPr>
              <a:t>La próxima pregunta es: ¿Cuántos dispositivos externos y qué tipo de dispositivos externos estarán conectados a la PC? ¿Necesita un sistema de RAID? ¿El cliente requiere la conexión de componentes más antiguos o propietarios? ¿Necesita instalar una tarjeta gráfica potente?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625968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Componentes periféricos de una PC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4</a:t>
            </a:fld>
            <a:endParaRPr lang="es-MX" dirty="0"/>
          </a:p>
        </p:txBody>
      </p:sp>
      <p:sp>
        <p:nvSpPr>
          <p:cNvPr id="3" name="Rectángulo 2"/>
          <p:cNvSpPr/>
          <p:nvPr/>
        </p:nvSpPr>
        <p:spPr>
          <a:xfrm>
            <a:off x="887730" y="1329658"/>
            <a:ext cx="792708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El gabinete </a:t>
            </a:r>
            <a:r>
              <a:rPr lang="es-MX" b="1" dirty="0">
                <a:solidFill>
                  <a:srgbClr val="222222"/>
                </a:solidFill>
                <a:latin typeface="arial" panose="020B0604020202020204" pitchFamily="34" charset="0"/>
              </a:rPr>
              <a:t>es</a:t>
            </a:r>
            <a:r>
              <a:rPr lang="es-MX" dirty="0">
                <a:solidFill>
                  <a:srgbClr val="222222"/>
                </a:solidFill>
                <a:latin typeface="arial" panose="020B0604020202020204" pitchFamily="34" charset="0"/>
              </a:rPr>
              <a:t> el </a:t>
            </a:r>
            <a:r>
              <a:rPr lang="es-MX" dirty="0" smtClean="0">
                <a:solidFill>
                  <a:srgbClr val="222222"/>
                </a:solidFill>
                <a:latin typeface="arial" panose="020B0604020202020204" pitchFamily="34" charset="0"/>
              </a:rPr>
              <a:t>armazón </a:t>
            </a:r>
            <a:r>
              <a:rPr lang="es-MX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que </a:t>
            </a:r>
            <a:r>
              <a:rPr lang="es-MX" b="1" dirty="0">
                <a:solidFill>
                  <a:srgbClr val="222222"/>
                </a:solidFill>
                <a:latin typeface="arial" panose="020B0604020202020204" pitchFamily="34" charset="0"/>
              </a:rPr>
              <a:t>contiene</a:t>
            </a:r>
            <a:r>
              <a:rPr lang="es-MX" dirty="0">
                <a:solidFill>
                  <a:srgbClr val="222222"/>
                </a:solidFill>
                <a:latin typeface="arial" panose="020B0604020202020204" pitchFamily="34" charset="0"/>
              </a:rPr>
              <a:t> los principales componentes de hardware de una </a:t>
            </a:r>
            <a:r>
              <a:rPr lang="es-MX" b="1" dirty="0">
                <a:solidFill>
                  <a:srgbClr val="222222"/>
                </a:solidFill>
                <a:latin typeface="arial" panose="020B0604020202020204" pitchFamily="34" charset="0"/>
              </a:rPr>
              <a:t>computadora</a:t>
            </a:r>
            <a:r>
              <a:rPr lang="es-MX" dirty="0">
                <a:solidFill>
                  <a:srgbClr val="222222"/>
                </a:solidFill>
                <a:latin typeface="arial" panose="020B0604020202020204" pitchFamily="34" charset="0"/>
              </a:rPr>
              <a:t>: su CPU, tarjeta madre, microprocesador, memoria, disco rígido y unidades internas (lector de CD o DVD, etc.).</a:t>
            </a:r>
            <a:endParaRPr lang="es-MX" dirty="0"/>
          </a:p>
        </p:txBody>
      </p:sp>
      <p:pic>
        <p:nvPicPr>
          <p:cNvPr id="2050" name="Picture 2" descr="Resultado de imagen para gabinete p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28" y="2395033"/>
            <a:ext cx="4362450" cy="436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uadroTexto 7"/>
          <p:cNvSpPr txBox="1"/>
          <p:nvPr/>
        </p:nvSpPr>
        <p:spPr>
          <a:xfrm>
            <a:off x="4293489" y="3008043"/>
            <a:ext cx="505747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No. De Puertos USB 2.0 y 3.0 frontales</a:t>
            </a:r>
          </a:p>
          <a:p>
            <a:r>
              <a:rPr lang="es-MX" dirty="0" smtClean="0"/>
              <a:t>No. De Bahías frontales para alojar unidades ópticas</a:t>
            </a:r>
          </a:p>
          <a:p>
            <a:r>
              <a:rPr lang="es-MX" dirty="0" smtClean="0"/>
              <a:t>No. De Ventiladores para enfriamiento</a:t>
            </a:r>
          </a:p>
          <a:p>
            <a:r>
              <a:rPr lang="es-MX" dirty="0" smtClean="0"/>
              <a:t>Capacidad en Watts de la fuente de poder</a:t>
            </a:r>
          </a:p>
          <a:p>
            <a:r>
              <a:rPr lang="es-MX" dirty="0" smtClean="0"/>
              <a:t>Factor de forma (Tamaño)</a:t>
            </a:r>
          </a:p>
          <a:p>
            <a:pPr lvl="1"/>
            <a:r>
              <a:rPr lang="es-MX" dirty="0" smtClean="0"/>
              <a:t>Full Tower</a:t>
            </a:r>
          </a:p>
          <a:p>
            <a:pPr lvl="1"/>
            <a:r>
              <a:rPr lang="es-MX" dirty="0" err="1" smtClean="0"/>
              <a:t>Mid</a:t>
            </a:r>
            <a:r>
              <a:rPr lang="es-MX" dirty="0" smtClean="0"/>
              <a:t> Tower</a:t>
            </a:r>
          </a:p>
          <a:p>
            <a:pPr lvl="1"/>
            <a:r>
              <a:rPr lang="es-MX" dirty="0" smtClean="0"/>
              <a:t>Mini Tower</a:t>
            </a:r>
          </a:p>
          <a:p>
            <a:pPr lvl="1"/>
            <a:r>
              <a:rPr lang="es-MX" dirty="0" smtClean="0"/>
              <a:t>Slim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55374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5</a:t>
            </a:fld>
            <a:endParaRPr lang="es-MX" dirty="0"/>
          </a:p>
        </p:txBody>
      </p:sp>
      <p:pic>
        <p:nvPicPr>
          <p:cNvPr id="3074" name="Picture 2" descr="Resultado de imagen para gabinete mini tower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189" y="2151602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esultado de imagen para gabinete mid towe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006" y="2311463"/>
            <a:ext cx="2800033" cy="2800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Resultado de imagen para gabinete full tow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001" y="1934908"/>
            <a:ext cx="2131938" cy="317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665348" y="1272542"/>
            <a:ext cx="20024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Full Tower</a:t>
            </a:r>
          </a:p>
          <a:p>
            <a:pPr algn="ctr"/>
            <a:r>
              <a:rPr lang="es-MX" dirty="0" smtClean="0"/>
              <a:t>30” </a:t>
            </a:r>
            <a:r>
              <a:rPr lang="es-MX" dirty="0"/>
              <a:t>(más de 76 cm)</a:t>
            </a:r>
          </a:p>
        </p:txBody>
      </p:sp>
      <p:sp>
        <p:nvSpPr>
          <p:cNvPr id="10" name="CuadroTexto 9"/>
          <p:cNvSpPr txBox="1"/>
          <p:nvPr/>
        </p:nvSpPr>
        <p:spPr>
          <a:xfrm>
            <a:off x="3700881" y="1272542"/>
            <a:ext cx="2231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err="1" smtClean="0"/>
              <a:t>Mid</a:t>
            </a:r>
            <a:r>
              <a:rPr lang="es-MX" dirty="0" smtClean="0"/>
              <a:t> Tower</a:t>
            </a:r>
          </a:p>
          <a:p>
            <a:pPr algn="ctr"/>
            <a:r>
              <a:rPr lang="pt-BR" dirty="0"/>
              <a:t>18 a </a:t>
            </a:r>
            <a:r>
              <a:rPr lang="pt-BR" dirty="0" smtClean="0"/>
              <a:t>24” </a:t>
            </a:r>
            <a:r>
              <a:rPr lang="pt-BR" dirty="0"/>
              <a:t>(45 a 60 cm) </a:t>
            </a:r>
            <a:endParaRPr lang="pt-BR" dirty="0" smtClean="0"/>
          </a:p>
        </p:txBody>
      </p:sp>
      <p:sp>
        <p:nvSpPr>
          <p:cNvPr id="11" name="CuadroTexto 10"/>
          <p:cNvSpPr txBox="1"/>
          <p:nvPr/>
        </p:nvSpPr>
        <p:spPr>
          <a:xfrm>
            <a:off x="7552057" y="1306306"/>
            <a:ext cx="22544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Mini Tower</a:t>
            </a:r>
          </a:p>
          <a:p>
            <a:r>
              <a:rPr lang="pt-BR" dirty="0"/>
              <a:t>12 a </a:t>
            </a:r>
            <a:r>
              <a:rPr lang="pt-BR" dirty="0" smtClean="0"/>
              <a:t>18” </a:t>
            </a:r>
            <a:r>
              <a:rPr lang="pt-BR" dirty="0"/>
              <a:t>(30 a 45 cm)</a:t>
            </a:r>
            <a:endParaRPr lang="es-MX" dirty="0"/>
          </a:p>
        </p:txBody>
      </p:sp>
      <p:pic>
        <p:nvPicPr>
          <p:cNvPr id="3080" name="Picture 8" descr="Resultado de imagen para gabinete slim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006" y="5464578"/>
            <a:ext cx="2408229" cy="1605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uadroTexto 12"/>
          <p:cNvSpPr txBox="1"/>
          <p:nvPr/>
        </p:nvSpPr>
        <p:spPr>
          <a:xfrm>
            <a:off x="2046677" y="6006591"/>
            <a:ext cx="1694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smtClean="0"/>
              <a:t>Slim</a:t>
            </a:r>
          </a:p>
          <a:p>
            <a:r>
              <a:rPr lang="pt-BR" dirty="0" smtClean="0"/>
              <a:t>Menos 12” (</a:t>
            </a:r>
            <a:r>
              <a:rPr lang="pt-BR" dirty="0"/>
              <a:t>30 </a:t>
            </a:r>
            <a:r>
              <a:rPr lang="pt-BR" dirty="0" smtClean="0"/>
              <a:t>)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69176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Tarjetas Madres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6</a:t>
            </a:fld>
            <a:endParaRPr lang="es-MX" dirty="0"/>
          </a:p>
        </p:txBody>
      </p:sp>
      <p:pic>
        <p:nvPicPr>
          <p:cNvPr id="4098" name="Picture 2" descr="gabine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876" y="1405720"/>
            <a:ext cx="9687481" cy="3843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378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7</a:t>
            </a:fld>
            <a:endParaRPr lang="es-MX" dirty="0"/>
          </a:p>
        </p:txBody>
      </p:sp>
      <p:pic>
        <p:nvPicPr>
          <p:cNvPr id="5122" name="Picture 2" descr="pc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655" y="722957"/>
            <a:ext cx="7128472" cy="351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s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258" y="4378171"/>
            <a:ext cx="7405284" cy="2787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71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Componentes internos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8</a:t>
            </a:fld>
            <a:endParaRPr lang="es-MX" dirty="0"/>
          </a:p>
        </p:txBody>
      </p:sp>
      <p:pic>
        <p:nvPicPr>
          <p:cNvPr id="1026" name="Picture 2" descr="Resultado de imagen para memoria 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30" y="1376489"/>
            <a:ext cx="4255256" cy="2500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/>
          <p:cNvSpPr txBox="1"/>
          <p:nvPr/>
        </p:nvSpPr>
        <p:spPr>
          <a:xfrm>
            <a:off x="5245861" y="1376489"/>
            <a:ext cx="39502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Memoria RAM</a:t>
            </a:r>
          </a:p>
          <a:p>
            <a:pPr algn="just"/>
            <a:endParaRPr lang="es-MX" dirty="0" smtClean="0"/>
          </a:p>
          <a:p>
            <a:pPr algn="just"/>
            <a:r>
              <a:rPr lang="es-MX" dirty="0" smtClean="0"/>
              <a:t>Su </a:t>
            </a:r>
            <a:r>
              <a:rPr lang="es-MX" dirty="0"/>
              <a:t>función principal es recordar la información que tienes en cada una de las aplicaciones abiertas en </a:t>
            </a:r>
            <a:r>
              <a:rPr lang="es-MX" dirty="0" smtClean="0"/>
              <a:t>la computadora, </a:t>
            </a:r>
            <a:r>
              <a:rPr lang="es-MX" dirty="0"/>
              <a:t>mientras este se encuentre encendido. Esta memoria de corto plazo solo actúa cuando el computador esté encendido.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76275" y="4617515"/>
            <a:ext cx="81146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Beneficios de aumentar la memoria RAM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Rapidez en la ejecución de programas o archivos. Cuando ejecutas un programa como un procesador de texto o el navegador de Internet, el microprocesador de extrae el archivo ejecutable del disco duro y lo carga en la memoria </a:t>
            </a:r>
            <a:r>
              <a:rPr lang="es-MX" dirty="0" smtClean="0"/>
              <a:t>RAM.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Aumento </a:t>
            </a:r>
            <a:r>
              <a:rPr lang="es-MX" dirty="0"/>
              <a:t>de la velocidad de arranque </a:t>
            </a:r>
            <a:r>
              <a:rPr lang="es-MX" dirty="0" smtClean="0"/>
              <a:t>de la computadora</a:t>
            </a:r>
            <a:endParaRPr lang="es-MX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Ayuda a que el procesador sea más rápido.</a:t>
            </a:r>
          </a:p>
        </p:txBody>
      </p:sp>
    </p:spTree>
    <p:extLst>
      <p:ext uri="{BB962C8B-B14F-4D97-AF65-F5344CB8AC3E}">
        <p14:creationId xmlns:p14="http://schemas.microsoft.com/office/powerpoint/2010/main" val="651015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Componentes internos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9</a:t>
            </a:fld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5245861" y="1376489"/>
            <a:ext cx="39502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Procesador</a:t>
            </a:r>
          </a:p>
          <a:p>
            <a:pPr algn="just"/>
            <a:endParaRPr lang="es-MX" dirty="0" smtClean="0"/>
          </a:p>
          <a:p>
            <a:pPr algn="just"/>
            <a:r>
              <a:rPr lang="es-MX" dirty="0" smtClean="0"/>
              <a:t>Su </a:t>
            </a:r>
            <a:r>
              <a:rPr lang="es-MX" dirty="0"/>
              <a:t>función principal </a:t>
            </a:r>
            <a:r>
              <a:rPr lang="es-MX" dirty="0" smtClean="0"/>
              <a:t>es ejecutar las instrucciones que realiza un usuario a través de las aplicaciones de manera que Si</a:t>
            </a:r>
            <a:r>
              <a:rPr lang="es-MX" dirty="0"/>
              <a:t> </a:t>
            </a:r>
            <a:r>
              <a:rPr lang="es-MX" b="1" dirty="0"/>
              <a:t>se</a:t>
            </a:r>
            <a:r>
              <a:rPr lang="es-MX" dirty="0"/>
              <a:t> dice que un </a:t>
            </a:r>
            <a:r>
              <a:rPr lang="es-MX" b="1" dirty="0"/>
              <a:t>procesador</a:t>
            </a:r>
            <a:r>
              <a:rPr lang="es-MX" dirty="0"/>
              <a:t> tiene una velocidad de 50 MHz, esto </a:t>
            </a:r>
            <a:r>
              <a:rPr lang="es-MX" b="1" dirty="0" smtClean="0"/>
              <a:t>se </a:t>
            </a:r>
            <a:r>
              <a:rPr lang="es-MX" dirty="0" smtClean="0"/>
              <a:t>traduce </a:t>
            </a:r>
            <a:r>
              <a:rPr lang="es-MX" dirty="0"/>
              <a:t>en que el </a:t>
            </a:r>
            <a:r>
              <a:rPr lang="es-MX" b="1" dirty="0"/>
              <a:t>procesador</a:t>
            </a:r>
            <a:r>
              <a:rPr lang="es-MX" dirty="0"/>
              <a:t> ejecuta 50 millones de ciclos en un segundo</a:t>
            </a:r>
          </a:p>
        </p:txBody>
      </p:sp>
      <p:sp>
        <p:nvSpPr>
          <p:cNvPr id="7" name="CuadroTexto 6"/>
          <p:cNvSpPr txBox="1"/>
          <p:nvPr/>
        </p:nvSpPr>
        <p:spPr>
          <a:xfrm>
            <a:off x="676275" y="4617515"/>
            <a:ext cx="81146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Criterios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Para oficina Intel i3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Para programadores, diseño 3D i5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Para </a:t>
            </a:r>
            <a:r>
              <a:rPr lang="es-MX" dirty="0" err="1" smtClean="0"/>
              <a:t>Gamer</a:t>
            </a:r>
            <a:r>
              <a:rPr lang="es-MX" dirty="0" smtClean="0"/>
              <a:t>, </a:t>
            </a:r>
            <a:r>
              <a:rPr lang="es-MX" dirty="0" err="1" smtClean="0"/>
              <a:t>renders</a:t>
            </a:r>
            <a:r>
              <a:rPr lang="es-MX" dirty="0" smtClean="0"/>
              <a:t> y video juegos i7</a:t>
            </a:r>
            <a:endParaRPr lang="es-MX" dirty="0"/>
          </a:p>
        </p:txBody>
      </p:sp>
      <p:pic>
        <p:nvPicPr>
          <p:cNvPr id="6146" name="Picture 2" descr="Resultado de imagen para como elegir un procesad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95516"/>
            <a:ext cx="3404764" cy="226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9486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Componentes internos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10</a:t>
            </a:fld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5245861" y="1376489"/>
            <a:ext cx="39502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Discos Duros</a:t>
            </a:r>
          </a:p>
          <a:p>
            <a:pPr algn="just"/>
            <a:endParaRPr lang="es-MX" dirty="0" smtClean="0"/>
          </a:p>
          <a:p>
            <a:pPr algn="just"/>
            <a:r>
              <a:rPr lang="es-MX" dirty="0" smtClean="0"/>
              <a:t>Su </a:t>
            </a:r>
            <a:r>
              <a:rPr lang="es-MX" dirty="0"/>
              <a:t>función principal </a:t>
            </a:r>
            <a:r>
              <a:rPr lang="es-MX" dirty="0" smtClean="0"/>
              <a:t>es en lo </a:t>
            </a:r>
            <a:r>
              <a:rPr lang="es-MX" dirty="0"/>
              <a:t>que se graba la información sobre la placa magnética. Tal dispositivo proporciona una gran </a:t>
            </a:r>
            <a:r>
              <a:rPr lang="es-MX" dirty="0" smtClean="0"/>
              <a:t>capacidad</a:t>
            </a:r>
            <a:endParaRPr lang="es-MX" dirty="0"/>
          </a:p>
        </p:txBody>
      </p:sp>
      <p:sp>
        <p:nvSpPr>
          <p:cNvPr id="7" name="CuadroTexto 6"/>
          <p:cNvSpPr txBox="1"/>
          <p:nvPr/>
        </p:nvSpPr>
        <p:spPr>
          <a:xfrm>
            <a:off x="504190" y="4026723"/>
            <a:ext cx="81146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Criterios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Tipo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HDD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SSD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Clase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Servidores (HDD)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err="1" smtClean="0"/>
              <a:t>Portatiles</a:t>
            </a:r>
            <a:r>
              <a:rPr lang="es-MX" dirty="0" smtClean="0"/>
              <a:t> (SDD)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Externos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Velocidad en RPM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Capacidad de almacenamiento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Interfaces de conectividad</a:t>
            </a:r>
            <a:endParaRPr lang="es-MX" dirty="0"/>
          </a:p>
        </p:txBody>
      </p:sp>
      <p:pic>
        <p:nvPicPr>
          <p:cNvPr id="6146" name="Picture 2" descr="Resultado de imagen para como elegir un procesad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" y="1695516"/>
            <a:ext cx="3404764" cy="2266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discos duros infocomput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7515" y="3961812"/>
            <a:ext cx="6229789" cy="2408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4953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 descr="Resultado de imagen para unidades opticas externa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712" y="3687648"/>
            <a:ext cx="3381375" cy="3381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sultado de imagen para unidades optica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" y="510346"/>
            <a:ext cx="3179303" cy="317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Componentes internos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11</a:t>
            </a:fld>
            <a:endParaRPr lang="es-MX" dirty="0"/>
          </a:p>
        </p:txBody>
      </p:sp>
      <p:sp>
        <p:nvSpPr>
          <p:cNvPr id="6" name="CuadroTexto 5"/>
          <p:cNvSpPr txBox="1"/>
          <p:nvPr/>
        </p:nvSpPr>
        <p:spPr>
          <a:xfrm>
            <a:off x="4469764" y="1294603"/>
            <a:ext cx="532753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Unidades Ópticas</a:t>
            </a:r>
          </a:p>
          <a:p>
            <a:pPr algn="just"/>
            <a:endParaRPr lang="es-MX" dirty="0" smtClean="0"/>
          </a:p>
          <a:p>
            <a:pPr algn="just"/>
            <a:r>
              <a:rPr lang="es-MX" dirty="0" smtClean="0"/>
              <a:t>Estas </a:t>
            </a:r>
            <a:r>
              <a:rPr lang="es-MX" dirty="0"/>
              <a:t>unidades pueden estar acopladas dentro del gabinete de la computadora, estar adaptadas en un case 5.25" para funcionar de manera externa </a:t>
            </a:r>
            <a:r>
              <a:rPr lang="es-MX" dirty="0" err="1"/>
              <a:t>ó</a:t>
            </a:r>
            <a:r>
              <a:rPr lang="es-MX" dirty="0"/>
              <a:t> bien, ser una unidad externa de fábrica. Estas unidades se conectan a la computadora y permiten el uso de diversos tipos de discos, como DVD-ROM, </a:t>
            </a:r>
            <a:r>
              <a:rPr lang="es-MX" dirty="0" smtClean="0"/>
              <a:t>CD-ROM, BLU-RAY</a:t>
            </a:r>
            <a:endParaRPr lang="es-MX" dirty="0"/>
          </a:p>
        </p:txBody>
      </p:sp>
      <p:sp>
        <p:nvSpPr>
          <p:cNvPr id="7" name="CuadroTexto 6"/>
          <p:cNvSpPr txBox="1"/>
          <p:nvPr/>
        </p:nvSpPr>
        <p:spPr>
          <a:xfrm>
            <a:off x="203939" y="2880685"/>
            <a:ext cx="81146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dirty="0" smtClean="0"/>
              <a:t>Criterios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Velocidad en RPM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Interfaces de conectividad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Clase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Interno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es-MX" dirty="0" smtClean="0"/>
              <a:t>Externo</a:t>
            </a:r>
            <a:endParaRPr lang="es-MX" dirty="0"/>
          </a:p>
        </p:txBody>
      </p:sp>
      <p:pic>
        <p:nvPicPr>
          <p:cNvPr id="8194" name="Picture 2" descr="Resultado de imagen para unidades optica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835" y="4016904"/>
            <a:ext cx="467677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15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Puertos y Conectores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12</a:t>
            </a:fld>
            <a:endParaRPr lang="es-MX" dirty="0"/>
          </a:p>
        </p:txBody>
      </p:sp>
      <p:pic>
        <p:nvPicPr>
          <p:cNvPr id="9218" name="Picture 2" descr="Resultado de imagen para puertos y conectores de la p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052" y="1718456"/>
            <a:ext cx="9543925" cy="39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1718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13</a:t>
            </a:fld>
            <a:endParaRPr lang="es-MX" dirty="0"/>
          </a:p>
        </p:txBody>
      </p:sp>
      <p:pic>
        <p:nvPicPr>
          <p:cNvPr id="10242" name="Picture 2" descr="Imag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6775" y="770677"/>
            <a:ext cx="5810250" cy="6629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0914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Software Básico de una computadora</a:t>
            </a:r>
            <a:endParaRPr lang="es-MX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319530" y="1562089"/>
            <a:ext cx="7787640" cy="2077492"/>
          </a:xfrm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smtClean="0"/>
              <a:t>Sistemas Operativo Anfitrión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smtClean="0"/>
              <a:t>Software empleado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smtClean="0"/>
              <a:t>Antivirus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dirty="0" smtClean="0"/>
              <a:t>Seguridad</a:t>
            </a:r>
          </a:p>
          <a:p>
            <a:pPr>
              <a:lnSpc>
                <a:spcPct val="150000"/>
              </a:lnSpc>
            </a:pP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642952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887730" y="547370"/>
            <a:ext cx="8308339" cy="830997"/>
          </a:xfrm>
        </p:spPr>
        <p:txBody>
          <a:bodyPr/>
          <a:lstStyle/>
          <a:p>
            <a:r>
              <a:rPr lang="es-MX" sz="1800" b="1" dirty="0"/>
              <a:t>Cuota de mercado de los principales sistemas operativos </a:t>
            </a:r>
            <a:r>
              <a:rPr lang="es-MX" sz="1800" b="1" dirty="0" smtClean="0"/>
              <a:t>PC-LAPTOPS a </a:t>
            </a:r>
            <a:r>
              <a:rPr lang="es-MX" sz="1800" b="1" dirty="0"/>
              <a:t>nivel mundial a fecha de enero de 2017, según instalaciones</a:t>
            </a:r>
            <a:r>
              <a:rPr lang="es-MX" sz="1800" dirty="0"/>
              <a:t/>
            </a:r>
            <a:br>
              <a:rPr lang="es-MX" sz="1800" dirty="0"/>
            </a:br>
            <a:endParaRPr lang="es-MX" sz="1800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15</a:t>
            </a:fld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/>
          <a:srcRect l="21087" t="30142" r="43147" b="27409"/>
          <a:stretch/>
        </p:blipFill>
        <p:spPr>
          <a:xfrm>
            <a:off x="710246" y="1343608"/>
            <a:ext cx="8231851" cy="549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40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4294967295"/>
          </p:nvPr>
        </p:nvSpPr>
        <p:spPr>
          <a:xfrm>
            <a:off x="0" y="7027863"/>
            <a:ext cx="2319338" cy="276225"/>
          </a:xfrm>
        </p:spPr>
        <p:txBody>
          <a:bodyPr/>
          <a:lstStyle/>
          <a:p>
            <a:fld id="{CFAF4EA2-16E7-4302-8BAC-FD62E3E8F542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4294967295"/>
          </p:nvPr>
        </p:nvSpPr>
        <p:spPr>
          <a:xfrm>
            <a:off x="7764463" y="7027863"/>
            <a:ext cx="2319337" cy="276225"/>
          </a:xfrm>
        </p:spPr>
        <p:txBody>
          <a:bodyPr/>
          <a:lstStyle/>
          <a:p>
            <a:fld id="{707BBC82-53CA-46EB-8BC8-02E4DC4F4BDB}" type="slidenum">
              <a:rPr lang="es-MX" smtClean="0"/>
              <a:pPr/>
              <a:t>16</a:t>
            </a:fld>
            <a:endParaRPr lang="es-MX" dirty="0"/>
          </a:p>
        </p:txBody>
      </p:sp>
      <p:pic>
        <p:nvPicPr>
          <p:cNvPr id="1026" name="Picture 2" descr="Resultado de imagen para mejor sistema operativo 201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517" y="814769"/>
            <a:ext cx="7573602" cy="4260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89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Software mas empleado en las empresa</a:t>
            </a:r>
            <a:endParaRPr lang="es-MX" dirty="0"/>
          </a:p>
        </p:txBody>
      </p:sp>
      <p:sp>
        <p:nvSpPr>
          <p:cNvPr id="2" name="Marcador de fecha 1"/>
          <p:cNvSpPr>
            <a:spLocks noGrp="1"/>
          </p:cNvSpPr>
          <p:nvPr>
            <p:ph type="dt" sz="half" idx="4294967295"/>
          </p:nvPr>
        </p:nvSpPr>
        <p:spPr>
          <a:xfrm>
            <a:off x="0" y="7027863"/>
            <a:ext cx="2319338" cy="276225"/>
          </a:xfrm>
        </p:spPr>
        <p:txBody>
          <a:bodyPr/>
          <a:lstStyle/>
          <a:p>
            <a:fld id="{C10A75CC-B0EB-4923-840C-81693F0CE318}" type="datetime1">
              <a:rPr lang="es-MX" smtClean="0"/>
              <a:t>22/07/2020</a:t>
            </a:fld>
            <a:endParaRPr lang="es-EC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4294967295"/>
          </p:nvPr>
        </p:nvSpPr>
        <p:spPr/>
        <p:txBody>
          <a:bodyPr/>
          <a:lstStyle/>
          <a:p>
            <a:r>
              <a:rPr lang="es-EC" smtClean="0"/>
              <a:t>Àrea Acadèmica de Ingenierìas</a:t>
            </a:r>
            <a:endParaRPr lang="es-EC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294967295"/>
          </p:nvPr>
        </p:nvSpPr>
        <p:spPr>
          <a:xfrm>
            <a:off x="7764463" y="7027863"/>
            <a:ext cx="2319337" cy="276225"/>
          </a:xfrm>
        </p:spPr>
        <p:txBody>
          <a:bodyPr/>
          <a:lstStyle/>
          <a:p>
            <a:fld id="{CA6F92E4-8F61-40AD-A3D2-C1C62A41DBCE}" type="slidenum">
              <a:rPr lang="es-EC" smtClean="0"/>
              <a:t>17</a:t>
            </a:fld>
            <a:endParaRPr lang="es-EC" dirty="0"/>
          </a:p>
        </p:txBody>
      </p:sp>
      <p:sp>
        <p:nvSpPr>
          <p:cNvPr id="6" name="CuadroTexto 5"/>
          <p:cNvSpPr txBox="1"/>
          <p:nvPr/>
        </p:nvSpPr>
        <p:spPr>
          <a:xfrm>
            <a:off x="969264" y="1581912"/>
            <a:ext cx="4586448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s-MX" b="1" dirty="0"/>
              <a:t>1. ERP (</a:t>
            </a:r>
            <a:r>
              <a:rPr lang="es-MX" b="1" dirty="0" err="1"/>
              <a:t>Enterpise</a:t>
            </a:r>
            <a:r>
              <a:rPr lang="es-MX" b="1" dirty="0"/>
              <a:t> </a:t>
            </a:r>
            <a:r>
              <a:rPr lang="es-MX" b="1" dirty="0" err="1"/>
              <a:t>Resource</a:t>
            </a:r>
            <a:r>
              <a:rPr lang="es-MX" b="1" dirty="0"/>
              <a:t> </a:t>
            </a:r>
            <a:r>
              <a:rPr lang="es-MX" b="1" dirty="0" err="1"/>
              <a:t>Planning</a:t>
            </a:r>
            <a:r>
              <a:rPr lang="es-MX" b="1" dirty="0"/>
              <a:t>)</a:t>
            </a:r>
          </a:p>
          <a:p>
            <a:pPr>
              <a:lnSpc>
                <a:spcPct val="200000"/>
              </a:lnSpc>
            </a:pPr>
            <a:r>
              <a:rPr lang="en-US" b="1" dirty="0"/>
              <a:t>2. CRM (Customer Relationship Management)</a:t>
            </a:r>
          </a:p>
          <a:p>
            <a:pPr>
              <a:lnSpc>
                <a:spcPct val="200000"/>
              </a:lnSpc>
            </a:pPr>
            <a:r>
              <a:rPr lang="es-MX" b="1" dirty="0"/>
              <a:t>3. BI (Business </a:t>
            </a:r>
            <a:r>
              <a:rPr lang="es-MX" b="1" dirty="0" err="1"/>
              <a:t>Intelligence</a:t>
            </a:r>
            <a:r>
              <a:rPr lang="es-MX" b="1" dirty="0"/>
              <a:t>)</a:t>
            </a:r>
          </a:p>
          <a:p>
            <a:pPr>
              <a:lnSpc>
                <a:spcPct val="200000"/>
              </a:lnSpc>
            </a:pPr>
            <a:r>
              <a:rPr lang="es-MX" b="1" dirty="0"/>
              <a:t>4. </a:t>
            </a:r>
            <a:r>
              <a:rPr lang="es-MX" b="1" dirty="0" err="1"/>
              <a:t>Call</a:t>
            </a:r>
            <a:r>
              <a:rPr lang="es-MX" b="1" dirty="0"/>
              <a:t> Center</a:t>
            </a:r>
          </a:p>
          <a:p>
            <a:pPr>
              <a:lnSpc>
                <a:spcPct val="200000"/>
              </a:lnSpc>
            </a:pPr>
            <a:r>
              <a:rPr lang="es-MX" b="1" dirty="0"/>
              <a:t>5. SGA (Software de Gestión de Almacén)</a:t>
            </a:r>
          </a:p>
          <a:p>
            <a:pPr>
              <a:lnSpc>
                <a:spcPct val="200000"/>
              </a:lnSpc>
            </a:pPr>
            <a:r>
              <a:rPr lang="es-MX" b="1" dirty="0"/>
              <a:t>6. TPV (Terminal en el Punto de Venta)</a:t>
            </a:r>
          </a:p>
          <a:p>
            <a:pPr>
              <a:lnSpc>
                <a:spcPct val="200000"/>
              </a:lnSpc>
            </a:pPr>
            <a:r>
              <a:rPr lang="es-MX" b="1" dirty="0"/>
              <a:t>7. Soluciones Cloud </a:t>
            </a:r>
            <a:r>
              <a:rPr lang="es-MX" b="1" dirty="0" smtClean="0"/>
              <a:t>Computing</a:t>
            </a:r>
          </a:p>
          <a:p>
            <a:pPr>
              <a:lnSpc>
                <a:spcPct val="200000"/>
              </a:lnSpc>
            </a:pPr>
            <a:r>
              <a:rPr lang="es-MX" b="1" dirty="0">
                <a:hlinkClick r:id="rId2"/>
              </a:rPr>
              <a:t>Mejores Alternativas Gratis A Microsoft Office</a:t>
            </a:r>
            <a:endParaRPr lang="es-MX" b="1" dirty="0"/>
          </a:p>
          <a:p>
            <a:pPr>
              <a:lnSpc>
                <a:spcPct val="200000"/>
              </a:lnSpc>
            </a:pPr>
            <a:endParaRPr lang="es-MX" b="1" dirty="0"/>
          </a:p>
          <a:p>
            <a:pPr>
              <a:lnSpc>
                <a:spcPct val="200000"/>
              </a:lnSpc>
            </a:pP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8820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Antivirus</a:t>
            </a:r>
            <a:endParaRPr lang="es-MX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310"/>
              </a:lnSpc>
            </a:pPr>
            <a:r>
              <a:rPr lang="es-MX" smtClean="0"/>
              <a:t>Àrea Acadèmica de Ingenierìas</a:t>
            </a:r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C9B5BA79-9451-44C4-81FC-0124AF7BE7B7}" type="datetime1">
              <a:rPr lang="es-MX" smtClean="0"/>
              <a:t>22/07/2020</a:t>
            </a:fld>
            <a:endParaRPr lang="en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MX" smtClean="0"/>
              <a:t>18</a:t>
            </a:fld>
            <a:endParaRPr lang="es-MX"/>
          </a:p>
        </p:txBody>
      </p:sp>
      <p:sp>
        <p:nvSpPr>
          <p:cNvPr id="6" name="AutoShape 2" descr="Panda Antivirus Pro Essential, Antivirus y Antimalware con 50% de Descuento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MX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2"/>
          <a:srcRect l="23435" t="6469" r="41771" b="17332"/>
          <a:stretch/>
        </p:blipFill>
        <p:spPr>
          <a:xfrm>
            <a:off x="3102644" y="547370"/>
            <a:ext cx="5181820" cy="6383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503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>
          <a:xfrm>
            <a:off x="756285" y="2342515"/>
            <a:ext cx="8571230" cy="492443"/>
          </a:xfrm>
        </p:spPr>
        <p:txBody>
          <a:bodyPr/>
          <a:lstStyle/>
          <a:p>
            <a:pPr algn="ctr"/>
            <a:r>
              <a:rPr lang="es-MX" dirty="0" err="1" smtClean="0"/>
              <a:t>htttp</a:t>
            </a:r>
            <a:r>
              <a:rPr lang="es-MX" dirty="0" smtClean="0"/>
              <a:t>//:www.ucc.mx</a:t>
            </a:r>
            <a:endParaRPr lang="es-MX" dirty="0"/>
          </a:p>
        </p:txBody>
      </p:sp>
      <p:sp>
        <p:nvSpPr>
          <p:cNvPr id="7" name="Subtítulo 6"/>
          <p:cNvSpPr>
            <a:spLocks noGrp="1"/>
          </p:cNvSpPr>
          <p:nvPr>
            <p:ph type="subTitle" idx="4"/>
          </p:nvPr>
        </p:nvSpPr>
        <p:spPr>
          <a:xfrm>
            <a:off x="1512570" y="4231640"/>
            <a:ext cx="7058660" cy="1938992"/>
          </a:xfrm>
        </p:spPr>
        <p:txBody>
          <a:bodyPr/>
          <a:lstStyle/>
          <a:p>
            <a:pPr algn="ctr"/>
            <a:r>
              <a:rPr lang="es-MX" dirty="0"/>
              <a:t/>
            </a:r>
            <a:br>
              <a:rPr lang="es-MX" dirty="0"/>
            </a:br>
            <a:r>
              <a:rPr lang="es-MX" dirty="0" smtClean="0">
                <a:hlinkClick r:id="rId2"/>
              </a:rPr>
              <a:t>https</a:t>
            </a:r>
            <a:r>
              <a:rPr lang="es-MX" dirty="0">
                <a:hlinkClick r:id="rId2"/>
              </a:rPr>
              <a:t>://www.facebook.com/ucc.industrial</a:t>
            </a:r>
            <a:endParaRPr lang="es-MX" dirty="0"/>
          </a:p>
          <a:p>
            <a:pPr algn="ctr"/>
            <a:r>
              <a:rPr lang="es-MX" dirty="0">
                <a:hlinkClick r:id="rId3"/>
              </a:rPr>
              <a:t>https://www.facebook.com/ucc.telecomunicaciones</a:t>
            </a:r>
            <a:endParaRPr lang="es-MX" dirty="0"/>
          </a:p>
          <a:p>
            <a:pPr algn="ctr"/>
            <a:r>
              <a:rPr lang="es-MX" dirty="0">
                <a:hlinkClick r:id="rId4"/>
              </a:rPr>
              <a:t>https://</a:t>
            </a:r>
            <a:r>
              <a:rPr lang="es-MX" dirty="0" smtClean="0">
                <a:hlinkClick r:id="rId4"/>
              </a:rPr>
              <a:t>www.facebook.com/ucc.sistemas</a:t>
            </a:r>
            <a:endParaRPr lang="es-MX" dirty="0" smtClean="0"/>
          </a:p>
          <a:p>
            <a:pPr algn="ctr"/>
            <a:r>
              <a:rPr lang="es-MX" dirty="0">
                <a:hlinkClick r:id="rId5"/>
              </a:rPr>
              <a:t>https://</a:t>
            </a:r>
            <a:r>
              <a:rPr lang="es-MX" dirty="0" smtClean="0">
                <a:hlinkClick r:id="rId5"/>
              </a:rPr>
              <a:t>www.facebook.com/ucc.petrolera</a:t>
            </a:r>
            <a:r>
              <a:rPr lang="es-MX" dirty="0" smtClean="0"/>
              <a:t> </a:t>
            </a:r>
            <a:endParaRPr lang="es-MX" dirty="0"/>
          </a:p>
          <a:p>
            <a:pPr algn="ctr"/>
            <a:endParaRPr lang="es-MX" dirty="0"/>
          </a:p>
          <a:p>
            <a:pPr algn="ctr"/>
            <a:endParaRPr lang="es-MX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6"/>
          </p:nvPr>
        </p:nvSpPr>
        <p:spPr/>
        <p:txBody>
          <a:bodyPr/>
          <a:lstStyle/>
          <a:p>
            <a:fld id="{360B948E-3E22-4405-9112-24D52847688F}" type="datetime1">
              <a:rPr lang="es-MX" smtClean="0"/>
              <a:t>22/07/2020</a:t>
            </a:fld>
            <a:endParaRPr lang="en-US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707BBC82-53CA-46EB-8BC8-02E4DC4F4BDB}" type="slidenum">
              <a:rPr lang="es-MX" smtClean="0"/>
              <a:pPr/>
              <a:t>19</a:t>
            </a:fld>
            <a:endParaRPr lang="es-MX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3375" y="3773487"/>
            <a:ext cx="817050" cy="61753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1743" y="6256021"/>
            <a:ext cx="449580" cy="449580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3352800" y="5943600"/>
            <a:ext cx="37283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MX" dirty="0" smtClean="0"/>
              <a:t>9232950 ext. 5327, 5809</a:t>
            </a:r>
          </a:p>
          <a:p>
            <a:pPr algn="ctr"/>
            <a:r>
              <a:rPr lang="es-MX" dirty="0" smtClean="0">
                <a:hlinkClick r:id="rId8"/>
              </a:rPr>
              <a:t>sergior@ucc.mx</a:t>
            </a:r>
            <a:endParaRPr lang="es-MX" dirty="0" smtClean="0"/>
          </a:p>
          <a:p>
            <a:pPr algn="ctr"/>
            <a:r>
              <a:rPr lang="es-MX" dirty="0" smtClean="0"/>
              <a:t>Jefe de área académica de Ingenierías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0025369"/>
      </p:ext>
    </p:extLst>
  </p:cSld>
  <p:clrMapOvr>
    <a:masterClrMapping/>
  </p:clrMapOvr>
</p:sld>
</file>

<file path=ppt/theme/theme1.xml><?xml version="1.0" encoding="utf-8"?>
<a:theme xmlns:a="http://schemas.openxmlformats.org/drawingml/2006/main" name="Empezar-Raspberry-P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UCC 2017" id="{38CCB5A0-3090-4CC9-B369-E4D652640D56}" vid="{B29616A5-A44C-49D2-9656-4AD05B4907C0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PLANTILLA UCC 2017</Template>
  <TotalTime>187</TotalTime>
  <Words>710</Words>
  <Application>Microsoft Office PowerPoint</Application>
  <PresentationFormat>Personalizado</PresentationFormat>
  <Paragraphs>142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arial</vt:lpstr>
      <vt:lpstr>Calibri</vt:lpstr>
      <vt:lpstr>CiscoSansTTLight</vt:lpstr>
      <vt:lpstr>Empezar-Raspberry-Pi</vt:lpstr>
      <vt:lpstr>Las computadoras personales</vt:lpstr>
      <vt:lpstr> Agenda</vt:lpstr>
      <vt:lpstr>Armado de una computadora</vt:lpstr>
      <vt:lpstr>Componentes periféricos de una PC</vt:lpstr>
      <vt:lpstr>Presentación de PowerPoint</vt:lpstr>
      <vt:lpstr>Tarjetas Madres</vt:lpstr>
      <vt:lpstr>Presentación de PowerPoint</vt:lpstr>
      <vt:lpstr>Componentes internos</vt:lpstr>
      <vt:lpstr>Componentes internos</vt:lpstr>
      <vt:lpstr>Componentes internos</vt:lpstr>
      <vt:lpstr>Componentes internos</vt:lpstr>
      <vt:lpstr>Puertos y Conectores</vt:lpstr>
      <vt:lpstr>Presentación de PowerPoint</vt:lpstr>
      <vt:lpstr>Software Básico de una computadora</vt:lpstr>
      <vt:lpstr>Cuota de mercado de los principales sistemas operativos PC-LAPTOPS a nivel mundial a fecha de enero de 2017, según instalaciones </vt:lpstr>
      <vt:lpstr>Presentación de PowerPoint</vt:lpstr>
      <vt:lpstr>Software mas empleado en las empresa</vt:lpstr>
      <vt:lpstr>Antivirus</vt:lpstr>
      <vt:lpstr>htttp//:www.ucc.mx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 computadoras personales</dc:title>
  <dc:creator>Usuario de Windows</dc:creator>
  <cp:lastModifiedBy>UsuarioW10</cp:lastModifiedBy>
  <cp:revision>16</cp:revision>
  <dcterms:created xsi:type="dcterms:W3CDTF">2018-08-27T14:34:33Z</dcterms:created>
  <dcterms:modified xsi:type="dcterms:W3CDTF">2020-07-22T14:36:11Z</dcterms:modified>
</cp:coreProperties>
</file>